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"/>
  </p:notesMasterIdLst>
  <p:sldIdLst>
    <p:sldId id="214747208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5" autoAdjust="0"/>
    <p:restoredTop sz="94679" autoAdjust="0"/>
  </p:normalViewPr>
  <p:slideViewPr>
    <p:cSldViewPr snapToGrid="0">
      <p:cViewPr varScale="1">
        <p:scale>
          <a:sx n="101" d="100"/>
          <a:sy n="101" d="100"/>
        </p:scale>
        <p:origin x="4" y="352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1" d="100"/>
          <a:sy n="91" d="100"/>
        </p:scale>
        <p:origin x="2892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41E1F0-8A6C-42B8-9EDE-A249B40162D9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FC2C6B-0B08-4AFC-A625-6FFBE5806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906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FC2C6B-0B08-4AFC-A625-6FFBE5806C0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800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9A0E-7A92-AC35-9AD7-A7E2C60C1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003A92-84D4-B415-E4F7-62B71276A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88E3A-CBB1-0D23-F51F-3ABB0B46B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3CD00-F9E6-0070-40CA-604523437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D7065-F958-764E-CB72-F932802B4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257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CA227-CA7A-62B9-0F42-509E8A389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401F9-FC4E-AC44-092C-88E40E254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F3A90-0B3E-0D8B-1973-F80AC9FC2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D3118-502B-6BC7-8E9B-8D26FA49C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DFFE0-A818-07B7-F2CD-B5BEC264B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794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2A271-CC41-21A7-DA9B-221D7EE62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48E2F-4D3E-22C1-406C-2B8A4C67F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DE4E2-69C5-5ED6-AFEB-3B837BF56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0CC17-5810-E2B3-FCF1-EE2DED914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285DC-8DCC-81D4-973F-49BED49C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37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7294F-9D1F-53E2-8D12-8A8659E0E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4365A-7FD7-2002-2823-F76840CAED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E22240-15F8-EFBB-8428-D602613F1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7E0B0-6333-917F-DBA5-B9342878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2452B-0A96-ED94-64D3-728DEFE7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93D1D-393F-F3F2-C1E1-C467C69C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35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79553-06E6-86C5-FD5F-45541994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B3FEC-E700-8ABD-D1DD-781902AC6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5BB28-0BDC-F469-2D57-53C984F9D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C1997-3E7B-4C33-08BD-D68FE16EB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06B7E3-81E9-FEB0-4AAF-31A1C509E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F1C012-B150-7D20-38F2-1695DA393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32253B-AD78-BF82-7760-B726071BB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2D99F7-FF66-EED2-9C82-EFEF8B890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2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4AE5D-C529-01E0-7DEA-9D828C313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83C94-9710-F2C1-291C-F02721FF1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D4010-E545-4227-F5C1-51D8C798C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82CBC-57D1-2059-F439-513221C6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89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AD649E-4A02-C9BC-69CA-E7EB08333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69B027-8A44-EFB6-9673-EB5C09116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B26DA-4F67-427A-6C7D-136DCB423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20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67B2A-8F1C-8384-463F-C836D6B55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7D2C3-E953-6AC2-19D2-9D11D4596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A1902-CE0E-C177-EB61-730B380C6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789AF-DF9D-4C76-ABE8-A0A78B79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C3AD9-D8E2-8A06-A04A-C4A14FA06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A6D0E-7135-1617-CC84-DE2337D9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18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5ED7A-6385-4EF9-AFCC-759506976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8EFB52-3868-A747-B07D-78A5817B0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8F87E-FCFA-5030-5210-FF19F52E0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BA992-C72D-E9C8-2638-E5F9AD4C3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7EAF4-5945-01A5-E022-770C2F7DD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41E50F-1775-EC4A-56CA-61DFA3071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460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AF33B-285D-7BAD-608A-8CF466E7D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4D89AB-DCB1-B72D-4C26-34EE41737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1D562-F9FE-CA7A-6778-020BF7B96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8F762-1C6C-5770-69C3-F6E4DE842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172FD-E613-861F-CCC8-7E873F3C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49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248615-78CA-1176-749C-DF56A4B8E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A9008-8182-3D87-CE58-9BA8B034C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FD385-5ED8-865E-459D-7ACE577D3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6E302-2613-FF87-CA17-EAE4DF813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E7D86-8302-062A-5792-8D7E687DB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672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44B03-DC5B-1B84-49A1-6E675D361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4A924-631B-84A5-9C1E-D34F2CBAE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1F0D6-BBDB-3A19-1671-1C4E306E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AD409-E358-7209-8A86-64C72338D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86B43-7A98-233A-D8E7-6FF2D658C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5820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0BB0D-CAEC-9D1D-0FD6-0489EE7CB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93ED8-C205-BACC-11ED-87A38506E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8F1B5-9B65-EED6-F0AE-CC0A8E54B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67D6D-C04C-4C51-EE41-17A961950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7BF9E-6220-6C04-260A-DB563ECF4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235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ADB31-D325-726F-F6E8-9ADEFAE83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E3823-D42D-4946-0ECA-FA3D7C40E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2EC95-74A6-7219-5914-C0A3331C6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29B0B-AD98-EB14-DF87-CB9240A84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AC9F9-DA37-531C-AABF-F4156CDAF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416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AC394-A63F-D897-A3D5-64AB9AE93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FD4A5-3BAC-76A0-A99B-F8BEA168C4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C608E3-B61F-4CFA-DC82-02C86529B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ABC2D-F1B8-A11D-A91C-16E61D9A2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7B827D-FDB1-B5CE-48A8-06D5D12D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4E846-7863-A881-DE4E-CBF5B3FB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82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5F73C-C37A-C387-E9FE-229277FCF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63E90-5699-D8E9-AFAC-4C3B3E63B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B227E2-7D6D-D7D7-7C15-25235C105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332BDA-D6B6-D61D-0458-DB4D46DA3A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4E513C-7836-8370-F9D0-A35662D0FE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B1FAAB-93B6-E0DB-02B7-3245547BF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4A5BB6-5F08-CB46-7468-6449C9194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E2B2CC-D620-3BFA-7E18-D27E803E8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521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18A66-9D39-61B0-A510-B813898F6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B23D65-8C47-E134-1E66-BCC8E008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1518C-5EFE-880C-80ED-F07E1C95B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4784BC-F272-9AA1-9CCC-91F19DE2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53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B62DF6-4682-99B4-2B5F-F473A3E4F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DC2D65-224E-564F-8DB5-978B05DB8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842A6-6FF7-B9B8-2F76-DABDA2B8E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937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04D3E-94AA-7EDF-D31C-203E01EA5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FC52F-2B30-69EF-DE3C-1FEB55670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017FB7-EEF0-0833-8A3A-0A008A86E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B5008-0C6F-9AE1-009F-D99FBE49F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5326D-61C8-3CA0-8C06-BDA2BA208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5A397-456E-3CB2-4ACF-3CB2F0384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4915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DAEF-261E-FA7C-8CED-78230FC3A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667433-60FF-A86A-2C5B-965642EE37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3E4AD6-4B07-9842-DFB1-2167ED836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57E40-B8EE-D80C-6A5D-538E315F2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461B5-45F1-1EEC-78F3-D5C219E1A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01A95-25E2-F6D7-6DE0-D49255D3B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677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32C3-5ACC-D3D9-8DE6-CFA8FC0D0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1F238-0A68-0564-12BB-8F6C9ED4A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F84D6-24D6-6B8A-1589-2E38A25D9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84594-421D-06E2-0CF8-00F2439E9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1E1E7-9C96-A3D5-9FD8-F6112D4A5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6842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1FC101-CD1D-69FC-2C2D-43A182A6B9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409C2D-EE04-5CC2-7EB2-14DEF31E0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24EA7-F36E-CEBC-C0D1-5039F0615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23CCC-C2BC-F47C-C266-281B03955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FA4D0-CE85-74EA-E615-8E7147747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7988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084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7143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1617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5576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3970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8429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3470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4777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3A4FCE-3A35-AF12-4EB0-4812C9C9A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30EB9-DBF9-CE4C-6E87-923D7F107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35641-CC9D-0FAE-4CCF-1941356C83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98D6A8-22DA-4CFC-AA61-FFA3C3542D5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A60CF-92FF-D6AC-109D-1E0DD83D8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307A6-9670-B2D9-E134-C3BD292CF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231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49E8DB-A4AB-B75C-4ED1-9BACD1E58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2F329-27F8-C1C6-497E-4A373AAE8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B96BC-9033-211E-EFCF-785F333CF7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6DE77-F393-425F-B5C6-A733350DBF5B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1C422-BDF8-5159-B23E-BDA02511B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668BD-72D7-7458-1C89-EC06D5775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22808A-EBBE-68AC-3DD8-241E700B91FA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90500" y="190500"/>
            <a:ext cx="4492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[Public]</a:t>
            </a:r>
          </a:p>
        </p:txBody>
      </p:sp>
    </p:spTree>
    <p:extLst>
      <p:ext uri="{BB962C8B-B14F-4D97-AF65-F5344CB8AC3E}">
        <p14:creationId xmlns:p14="http://schemas.microsoft.com/office/powerpoint/2010/main" val="2240575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png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2.bin"/><Relationship Id="rId5" Type="http://schemas.openxmlformats.org/officeDocument/2006/relationships/oleObject" Target="../embeddings/oleObject1.bin"/><Relationship Id="rId10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5">
            <a:extLst>
              <a:ext uri="{FF2B5EF4-FFF2-40B4-BE49-F238E27FC236}">
                <a16:creationId xmlns:a16="http://schemas.microsoft.com/office/drawing/2014/main" id="{7DE7C564-845A-8C81-D0BA-16A0FFCA07E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2" t="1728" r="8780" b="-1728"/>
          <a:stretch>
            <a:fillRect/>
          </a:stretch>
        </p:blipFill>
        <p:spPr>
          <a:xfrm flipH="1">
            <a:off x="8472362" y="3830254"/>
            <a:ext cx="3571125" cy="3121576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B9918D3-E7A9-00E4-6846-A5D771229412}"/>
              </a:ext>
            </a:extLst>
          </p:cNvPr>
          <p:cNvSpPr txBox="1">
            <a:spLocks/>
          </p:cNvSpPr>
          <p:nvPr/>
        </p:nvSpPr>
        <p:spPr>
          <a:xfrm>
            <a:off x="8340" y="1474159"/>
            <a:ext cx="3778396" cy="4600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buNone/>
              <a:defRPr/>
            </a:pPr>
            <a:r>
              <a:rPr lang="en-US" altLang="zh-CN" sz="1100" dirty="0"/>
              <a:t>An underwater archaeology platform integrates imaging sensors, navigation, 3D reconstruction, and data management to locate, document, analyze, and protect submerged cultural heritage with real-time mapping and decision support.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lvl="0" indent="0">
              <a:lnSpc>
                <a:spcPct val="100000"/>
              </a:lnSpc>
              <a:buNone/>
              <a:defRPr/>
            </a:pPr>
            <a:endParaRPr lang="en-US" altLang="zh-CN" sz="1100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CN" sz="1100" dirty="0"/>
              <a:t>A typical underwater archaeological platform consists of a binocular stereo vision system, an FPGA-based depth processing unit, and a data transmission system. Most current platforms can perform real-time disparity calculation and depth map generation, but cannot integrate image enhancement preprocessing or retain raw color information, lost crucial spectral characteristics for artifact identification.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br>
              <a:rPr lang="en-US" altLang="zh-CN" sz="1100" dirty="0"/>
            </a:br>
            <a:r>
              <a:rPr lang="en-US" altLang="zh-CN" sz="1100" b="1" dirty="0"/>
              <a:t>Key technical issues addressed:</a:t>
            </a:r>
          </a:p>
          <a:p>
            <a:pPr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en-US" altLang="zh-CN" sz="1100" dirty="0"/>
              <a:t>Image acquisition, High-performance dual MIPI-CSI camera interface for underwater low-visibility scenes.</a:t>
            </a:r>
          </a:p>
          <a:p>
            <a:pPr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en-US" altLang="zh-CN" sz="1100" dirty="0"/>
              <a:t>Stereo processing and matching, AMD-Xilinx Zynq </a:t>
            </a:r>
            <a:r>
              <a:rPr lang="en-US" altLang="zh-CN" sz="1100" dirty="0" err="1"/>
              <a:t>UltraScale</a:t>
            </a:r>
            <a:r>
              <a:rPr lang="en-US" altLang="zh-CN" sz="1100" dirty="0"/>
              <a:t>+ </a:t>
            </a:r>
            <a:r>
              <a:rPr lang="en-US" altLang="zh-CN" sz="1100" dirty="0" err="1"/>
              <a:t>MPSoC</a:t>
            </a:r>
            <a:r>
              <a:rPr lang="en-US" altLang="zh-CN" sz="1100" dirty="0"/>
              <a:t> (xczu3eg) with dual-clock domain architecture (15MHz/150MHz).</a:t>
            </a:r>
          </a:p>
          <a:p>
            <a:pPr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en-US" altLang="zh-CN" sz="1100" dirty="0"/>
              <a:t>Data transmitting, AXI-DMA (Direct Memory Access) interface with dual-channel MM2S/S2MM for &lt;1ms latency.</a:t>
            </a:r>
          </a:p>
          <a:p>
            <a:pPr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en-US" altLang="zh-CN" sz="1100" dirty="0"/>
              <a:t>Result visualization, PS-based Linux system with OpenCV integration and real-time disparity map display.</a:t>
            </a:r>
            <a:endParaRPr kumimoji="0" lang="en-US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375F87A2-A0A6-0AB2-2CFE-7A704671ED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5188697"/>
              </p:ext>
            </p:extLst>
          </p:nvPr>
        </p:nvGraphicFramePr>
        <p:xfrm>
          <a:off x="42596" y="2672251"/>
          <a:ext cx="4013200" cy="807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12920" imgH="939600" progId="Equation.DSMT4">
                  <p:embed/>
                </p:oleObj>
              </mc:Choice>
              <mc:Fallback>
                <p:oleObj name="Equation" r:id="rId5" imgW="401292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596" y="2672251"/>
                        <a:ext cx="4013200" cy="8074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930" y="896028"/>
            <a:ext cx="2795337" cy="465054"/>
          </a:xfrm>
          <a:solidFill>
            <a:srgbClr val="2F2F2F"/>
          </a:solidFill>
        </p:spPr>
        <p:txBody>
          <a:bodyPr>
            <a:norm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596" y="428265"/>
            <a:ext cx="67894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Underwater Archaeology Platform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7171916" y="1207809"/>
            <a:ext cx="411468" cy="3188991"/>
          </a:xfrm>
          <a:prstGeom prst="rect">
            <a:avLst/>
          </a:prstGeom>
          <a:solidFill>
            <a:srgbClr val="2F2F2F"/>
          </a:solidFill>
        </p:spPr>
        <p:txBody>
          <a:bodyPr vert="wordArt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44" name="文本框 4"/>
          <p:cNvSpPr txBox="1"/>
          <p:nvPr/>
        </p:nvSpPr>
        <p:spPr>
          <a:xfrm>
            <a:off x="956468" y="3396650"/>
            <a:ext cx="1882140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Typical application case</a:t>
            </a:r>
          </a:p>
        </p:txBody>
      </p:sp>
      <p:cxnSp>
        <p:nvCxnSpPr>
          <p:cNvPr id="50" name="Straight Connector 49"/>
          <p:cNvCxnSpPr>
            <a:cxnSpLocks/>
          </p:cNvCxnSpPr>
          <p:nvPr/>
        </p:nvCxnSpPr>
        <p:spPr>
          <a:xfrm>
            <a:off x="7676243" y="2982231"/>
            <a:ext cx="4410705" cy="3905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cxnSpLocks/>
          </p:cNvCxnSpPr>
          <p:nvPr/>
        </p:nvCxnSpPr>
        <p:spPr>
          <a:xfrm>
            <a:off x="7669418" y="2982231"/>
            <a:ext cx="0" cy="387576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250547" y="3003259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44241" y="3223311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44241" y="343816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244241" y="3645588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44241" y="3869462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44241" y="407161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235679" y="1198747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50547" y="1393571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250547" y="258588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250547" y="1790629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250547" y="2392881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50547" y="217881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I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250547" y="198492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V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250547" y="159303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96" name="文本框 4"/>
          <p:cNvSpPr txBox="1"/>
          <p:nvPr/>
        </p:nvSpPr>
        <p:spPr>
          <a:xfrm>
            <a:off x="10139078" y="1524505"/>
            <a:ext cx="2238705" cy="2208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On board test by AMD </a:t>
            </a:r>
            <a:r>
              <a:rPr lang="en-US" altLang="zh-CN" sz="1000" b="1" dirty="0">
                <a:solidFill>
                  <a:prstClr val="black"/>
                </a:solidFill>
                <a:ea typeface="等线" panose="02010600030101010101" pitchFamily="2" charset="-122"/>
              </a:rPr>
              <a:t>Ultra96 –v2</a:t>
            </a:r>
            <a:endParaRPr kumimoji="0" lang="en-US" altLang="zh-CN" sz="10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7076650" y="15194"/>
            <a:ext cx="43343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00" cap="none" spc="0" normalizeH="0" baseline="0" noProof="0" dirty="0">
                <a:ln>
                  <a:noFill/>
                </a:ln>
                <a:solidFill>
                  <a:srgbClr val="242021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OpenHW2025</a:t>
            </a:r>
            <a:endParaRPr kumimoji="0" lang="en-US" sz="20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" name="Title 1"/>
          <p:cNvSpPr txBox="1"/>
          <p:nvPr/>
        </p:nvSpPr>
        <p:spPr>
          <a:xfrm>
            <a:off x="7750282" y="3086351"/>
            <a:ext cx="377933" cy="1678530"/>
          </a:xfrm>
          <a:prstGeom prst="rect">
            <a:avLst/>
          </a:prstGeom>
          <a:solidFill>
            <a:srgbClr val="2F2F2F"/>
          </a:solidFill>
        </p:spPr>
        <p:txBody>
          <a:bodyPr vert="wordArt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798748" y="3146595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798748" y="343701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798748" y="366917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798748" y="390660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U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789540" y="416154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L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798751" y="4395549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</a:t>
            </a:r>
          </a:p>
        </p:txBody>
      </p:sp>
      <p:pic>
        <p:nvPicPr>
          <p:cNvPr id="7" name="Picture 6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6141" y="47698"/>
            <a:ext cx="2111325" cy="1187620"/>
          </a:xfrm>
          <a:prstGeom prst="rect">
            <a:avLst/>
          </a:prstGeom>
        </p:spPr>
      </p:pic>
      <p:sp>
        <p:nvSpPr>
          <p:cNvPr id="14" name="文本框 4"/>
          <p:cNvSpPr txBox="1"/>
          <p:nvPr>
            <p:custDataLst>
              <p:tags r:id="rId1"/>
            </p:custDataLst>
          </p:nvPr>
        </p:nvSpPr>
        <p:spPr>
          <a:xfrm>
            <a:off x="4383482" y="3739600"/>
            <a:ext cx="2695575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System Architecture</a:t>
            </a:r>
          </a:p>
        </p:txBody>
      </p:sp>
      <p:sp>
        <p:nvSpPr>
          <p:cNvPr id="24" name="矩形: 圆角 10">
            <a:extLst>
              <a:ext uri="{FF2B5EF4-FFF2-40B4-BE49-F238E27FC236}">
                <a16:creationId xmlns:a16="http://schemas.microsoft.com/office/drawing/2014/main" id="{4137E1DC-4316-A8F5-0110-E72BC587D46B}"/>
              </a:ext>
            </a:extLst>
          </p:cNvPr>
          <p:cNvSpPr/>
          <p:nvPr/>
        </p:nvSpPr>
        <p:spPr>
          <a:xfrm>
            <a:off x="4202129" y="5435335"/>
            <a:ext cx="2895153" cy="12949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rgbClr val="FF0000"/>
                </a:solidFill>
              </a:rPr>
              <a:t>FPGA Accelerator (PL):</a:t>
            </a:r>
          </a:p>
          <a:p>
            <a:r>
              <a:rPr lang="en-US" altLang="zh-CN" sz="1100" dirty="0">
                <a:solidFill>
                  <a:schemeClr val="tx1"/>
                </a:solidFill>
              </a:rPr>
              <a:t>1 Executing SGBM stereo matching in hardware pipeline;</a:t>
            </a:r>
          </a:p>
          <a:p>
            <a:r>
              <a:rPr lang="en-US" altLang="zh-CN" sz="1100" dirty="0">
                <a:solidFill>
                  <a:schemeClr val="tx1"/>
                </a:solidFill>
              </a:rPr>
              <a:t>2. Processing 640×480 resolution at 30fps with &lt;1W power;</a:t>
            </a:r>
          </a:p>
          <a:p>
            <a:r>
              <a:rPr lang="en-US" altLang="zh-CN" sz="1100" dirty="0">
                <a:solidFill>
                  <a:schemeClr val="tx1"/>
                </a:solidFill>
              </a:rPr>
              <a:t>3. Generating dense disparity maps with 64-pixel range;</a:t>
            </a:r>
          </a:p>
        </p:txBody>
      </p:sp>
      <p:sp>
        <p:nvSpPr>
          <p:cNvPr id="25" name="矩形: 圆角 11">
            <a:extLst>
              <a:ext uri="{FF2B5EF4-FFF2-40B4-BE49-F238E27FC236}">
                <a16:creationId xmlns:a16="http://schemas.microsoft.com/office/drawing/2014/main" id="{87DCDF71-0F6F-31F2-E734-5BDD6F2EA8FF}"/>
              </a:ext>
            </a:extLst>
          </p:cNvPr>
          <p:cNvSpPr/>
          <p:nvPr/>
        </p:nvSpPr>
        <p:spPr>
          <a:xfrm>
            <a:off x="4202130" y="4055158"/>
            <a:ext cx="2895152" cy="12245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rgbClr val="FF0000"/>
                </a:solidFill>
              </a:rPr>
              <a:t>Camera Interface Module:</a:t>
            </a:r>
          </a:p>
          <a:p>
            <a:r>
              <a:rPr lang="en-US" altLang="zh-CN" sz="1100" dirty="0">
                <a:solidFill>
                  <a:schemeClr val="tx1"/>
                </a:solidFill>
              </a:rPr>
              <a:t>1. Synchronizing dual-camera capture for stereo imaging;</a:t>
            </a:r>
          </a:p>
          <a:p>
            <a:r>
              <a:rPr lang="en-US" altLang="zh-CN" sz="1100" dirty="0">
                <a:solidFill>
                  <a:schemeClr val="tx1"/>
                </a:solidFill>
              </a:rPr>
              <a:t>2. Transmitting RGB frame pairs to FPGA via high-speed DMA;</a:t>
            </a:r>
          </a:p>
          <a:p>
            <a:r>
              <a:rPr lang="en-US" altLang="zh-CN" sz="1100" dirty="0">
                <a:solidFill>
                  <a:schemeClr val="tx1"/>
                </a:solidFill>
              </a:rPr>
              <a:t>3. Providing clock synchronization and exposure control;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D488021C-90B4-9903-C328-C03C01B4968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1216" y="93533"/>
            <a:ext cx="2643917" cy="1390765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165DC69B-D6F5-B7B5-398B-40E5DBF4FFC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293" y="872980"/>
            <a:ext cx="2812989" cy="1300466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D4D5B34F-65C4-8B5E-99F3-DF093505EDF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7788" y="2209098"/>
            <a:ext cx="2224099" cy="1361128"/>
          </a:xfrm>
          <a:prstGeom prst="rect">
            <a:avLst/>
          </a:prstGeom>
        </p:spPr>
      </p:pic>
      <p:graphicFrame>
        <p:nvGraphicFramePr>
          <p:cNvPr id="51" name="对象 50">
            <a:extLst>
              <a:ext uri="{FF2B5EF4-FFF2-40B4-BE49-F238E27FC236}">
                <a16:creationId xmlns:a16="http://schemas.microsoft.com/office/drawing/2014/main" id="{9FE42FF9-2DD2-C1AF-8EE6-4C7A8C31DE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5042349"/>
              </p:ext>
            </p:extLst>
          </p:nvPr>
        </p:nvGraphicFramePr>
        <p:xfrm>
          <a:off x="32241" y="2239630"/>
          <a:ext cx="4013199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470120" imgH="533160" progId="Equation.DSMT4">
                  <p:embed/>
                </p:oleObj>
              </mc:Choice>
              <mc:Fallback>
                <p:oleObj name="Equation" r:id="rId11" imgW="447012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241" y="2239630"/>
                        <a:ext cx="4013199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矩形: 圆角 10">
            <a:extLst>
              <a:ext uri="{FF2B5EF4-FFF2-40B4-BE49-F238E27FC236}">
                <a16:creationId xmlns:a16="http://schemas.microsoft.com/office/drawing/2014/main" id="{160D2530-3B85-456D-AAD5-C59DA952841B}"/>
              </a:ext>
            </a:extLst>
          </p:cNvPr>
          <p:cNvSpPr/>
          <p:nvPr/>
        </p:nvSpPr>
        <p:spPr>
          <a:xfrm>
            <a:off x="7676243" y="1723303"/>
            <a:ext cx="2895152" cy="12268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 dirty="0">
                <a:solidFill>
                  <a:srgbClr val="FF0000"/>
                </a:solidFill>
              </a:rPr>
              <a:t>Linux Host System (PS):</a:t>
            </a:r>
          </a:p>
          <a:p>
            <a:r>
              <a:rPr lang="en-US" altLang="zh-CN" sz="1100" dirty="0">
                <a:solidFill>
                  <a:schemeClr val="tx1"/>
                </a:solidFill>
              </a:rPr>
              <a:t>1. Managing camera drivers and system services;</a:t>
            </a:r>
          </a:p>
          <a:p>
            <a:r>
              <a:rPr lang="en-US" altLang="zh-CN" sz="1100" dirty="0">
                <a:solidFill>
                  <a:schemeClr val="tx1"/>
                </a:solidFill>
              </a:rPr>
              <a:t>2. Receiving depth results and performing visualization;</a:t>
            </a:r>
          </a:p>
          <a:p>
            <a:r>
              <a:rPr lang="en-US" altLang="zh-CN" sz="1100" dirty="0">
                <a:solidFill>
                  <a:schemeClr val="tx1"/>
                </a:solidFill>
              </a:rPr>
              <a:t>3. Coordinating underwater platform motion control;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F6663B8B-ED2B-291D-B40B-32AC9CA11579}"/>
              </a:ext>
            </a:extLst>
          </p:cNvPr>
          <p:cNvSpPr txBox="1"/>
          <p:nvPr/>
        </p:nvSpPr>
        <p:spPr>
          <a:xfrm>
            <a:off x="8155520" y="3016325"/>
            <a:ext cx="370037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Verified Performance:</a:t>
            </a:r>
          </a:p>
          <a:p>
            <a:r>
              <a:rPr lang="en-US" altLang="zh-CN" sz="1100" dirty="0"/>
              <a:t>• 30fps @ 640×480 | Latency: &lt;50ms | Power: &lt;1W (PL)</a:t>
            </a:r>
          </a:p>
          <a:p>
            <a:r>
              <a:rPr lang="en-US" altLang="zh-CN" sz="1100" dirty="0"/>
              <a:t>• Depth Error: &lt;3% | Disparity: 64px (6-bit)</a:t>
            </a:r>
          </a:p>
          <a:p>
            <a:r>
              <a:rPr lang="en-US" altLang="zh-CN" sz="1100" dirty="0"/>
              <a:t>• 50× lower power vs. GPU | Real-time vs. CPU</a:t>
            </a:r>
          </a:p>
          <a:p>
            <a:r>
              <a:rPr lang="en-US" altLang="zh-CN" sz="1100" dirty="0"/>
              <a:t>Future Work:</a:t>
            </a:r>
          </a:p>
          <a:p>
            <a:r>
              <a:rPr lang="en-US" altLang="zh-CN" sz="1100" dirty="0"/>
              <a:t>• 720p resolution | DPU-based image enhancement</a:t>
            </a:r>
          </a:p>
          <a:p>
            <a:r>
              <a:rPr lang="en-US" altLang="zh-CN" sz="1100" dirty="0"/>
              <a:t>• Lightweight object detection | Extended 10m range</a:t>
            </a:r>
          </a:p>
          <a:p>
            <a:r>
              <a:rPr lang="en-US" altLang="zh-CN" sz="1100" dirty="0"/>
              <a:t>• Integrated vision-navigation-control platform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5672745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4523dde-f9d1-4aa7-80a9-c0900420d3c3}" enabled="1" method="Privileged" siteId="{3dd8961f-e488-4e60-8e11-a82d994e183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379</Words>
  <Application>Microsoft Office PowerPoint</Application>
  <PresentationFormat>宽屏</PresentationFormat>
  <Paragraphs>59</Paragraphs>
  <Slides>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等线</vt:lpstr>
      <vt:lpstr>微软雅黑</vt:lpstr>
      <vt:lpstr>Aharoni</vt:lpstr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MathType 7.0 Equation</vt:lpstr>
      <vt:lpstr>INTRODUCTION</vt:lpstr>
    </vt:vector>
  </TitlesOfParts>
  <Company>AMD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Chen, Wen (Vicky)</dc:creator>
  <cp:lastModifiedBy>靖然 孟</cp:lastModifiedBy>
  <cp:revision>10</cp:revision>
  <dcterms:created xsi:type="dcterms:W3CDTF">2024-09-09T08:07:06Z</dcterms:created>
  <dcterms:modified xsi:type="dcterms:W3CDTF">2025-11-07T06:45:22Z</dcterms:modified>
</cp:coreProperties>
</file>